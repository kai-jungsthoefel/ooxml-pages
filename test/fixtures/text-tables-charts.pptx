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</p:sldIdLst>
  <p:sldSz cx="9144000" cy="6858000"/>
  <p:notesSz cx="6858000" cy="9144000"/>
  <p:defaultTextStyle>
    <a:lvl1pPr>
      <a:defRPr sz="1800">
        <a:solidFill>
          <a:schemeClr val="tx1"/>
        </a:solidFill>
        <a:latin typeface="+mn-lt"/>
      </a:defRPr>
    </a:lvl1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/>
          <a:lstStyle/>
          <a:p>
            <a:pPr>
              <a:defRPr sz="1400" b="0">
                <a:solidFill>
                  <a:srgbClr val="404040"/>
                </a:solidFill>
              </a:defRPr>
            </a:pPr>
            <a:r>
              <a:rPr lang="en-US"/>
              <a:t>Revenue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T!$A$2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T!$B$2:$E$2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47</c:v>
                </c:pt>
                <c:pt idx="3">
                  <c:v>63</c:v>
                </c:pt>
              </c:numCache>
            </c:numRef>
          </c:val>
        </c:ser>
        <c:ser>
          <c:idx val="1"/>
          <c:order val="1"/>
          <c:tx>
            <c:strRef>
              <c:f>T!$A$3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T!$B$3:$E$3</c:f>
              <c:numCache>
                <c:formatCode>General</c:formatCode>
                <c:ptCount val="4"/>
                <c:pt idx="0">
                  <c:v>35</c:v>
                </c:pt>
                <c:pt idx="1">
                  <c:v>38</c:v>
                </c:pt>
                <c:pt idx="2">
                  <c:v>44</c:v>
                </c:pt>
                <c:pt idx="3">
                  <c:v>41</c:v>
                </c:pt>
              </c:numCache>
            </c:numRef>
          </c:val>
        </c:ser>
        <c:ser>
          <c:idx val="2"/>
          <c:order val="2"/>
          <c:tx>
            <c:strRef>
              <c:f>T!$A$4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T!$B$4:$E$4</c:f>
              <c:numCache>
                <c:formatCode>General</c:formatCode>
                <c:ptCount val="4"/>
                <c:pt idx="0">
                  <c:v>18</c:v>
                </c:pt>
                <c:pt idx="1">
                  <c:v>27</c:v>
                </c:pt>
                <c:pt idx="2">
                  <c:v>31</c:v>
                </c:pt>
                <c:pt idx="3">
                  <c:v>36</c:v>
                </c:pt>
              </c:numCache>
            </c:numRef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>
                    <a:solidFill>
                      <a:srgbClr val="404040"/>
                    </a:solidFill>
                  </a:defRPr>
                </a:pPr>
                <a:r>
                  <a:rPr lang="en-US"/>
                  <a:t>Quarter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  <a:endParaRPr lang="en-US"/>
          </a:p>
        </c:txPr>
        <c:crossAx val="2"/>
        <c:crosses val="autoZero"/>
      </c:catAx>
      <c:valAx>
        <c:axId val="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0">
                    <a:solidFill>
                      <a:srgbClr val="404040"/>
                    </a:solidFill>
                  </a:defRPr>
                </a:pPr>
                <a:r>
                  <a:rPr lang="en-US"/>
                  <a:t>Revenue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gap"/>
  </c:chart>
  <c:spPr>
    <a:solidFill>
      <a:srgbClr val="FFFFFF"/>
    </a:solidFill>
    <a:ln w="9525">
      <a:solidFill>
        <a:srgbClr val="D9D9D9"/>
      </a:solidFill>
    </a:ln>
  </c:spPr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/>
          <a:lstStyle/>
          <a:p>
            <a:pPr>
              <a:defRPr sz="1400" b="0">
                <a:solidFill>
                  <a:srgbClr val="404040"/>
                </a:solidFill>
              </a:defRPr>
            </a:pPr>
            <a:r>
              <a:rPr lang="en-US"/>
              <a:t>Share of North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T!$A$2</c:f>
              <c:strCache>
                <c:ptCount val="1"/>
                <c:pt idx="0">
                  <c:v>North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T!$B$2:$E$2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47</c:v>
                </c:pt>
                <c:pt idx="3">
                  <c:v>63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gap"/>
  </c:chart>
  <c:spPr>
    <a:solidFill>
      <a:srgbClr val="FFFFFF"/>
    </a:solidFill>
    <a:ln w="9525">
      <a:solidFill>
        <a:srgbClr val="D9D9D9"/>
      </a:solidFill>
    </a:ln>
  </c:spPr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/>
          <a:lstStyle/>
          <a:p>
            <a:pPr>
              <a:defRPr sz="1400" b="0">
                <a:solidFill>
                  <a:srgbClr val="404040"/>
                </a:solidFill>
              </a:defRPr>
            </a:pPr>
            <a:r>
              <a:rPr lang="en-US"/>
              <a:t>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T!$A$2</c:f>
              <c:strCache>
                <c:ptCount val="1"/>
                <c:pt idx="0">
                  <c:v>North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</c:spPr>
          </c:marker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T!$B$2:$E$2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47</c:v>
                </c:pt>
                <c:pt idx="3">
                  <c:v>63</c:v>
                </c:pt>
              </c:numCache>
            </c:numRef>
          </c:val>
        </c:ser>
        <c:ser>
          <c:idx val="1"/>
          <c:order val="1"/>
          <c:tx>
            <c:strRef>
              <c:f>T!$A$3</c:f>
              <c:strCache>
                <c:ptCount val="1"/>
                <c:pt idx="0">
                  <c:v>South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</c:spPr>
          <c:marker>
            <c:symbol val="circl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</c:spPr>
          </c:marker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T!$B$3:$E$3</c:f>
              <c:numCache>
                <c:formatCode>General</c:formatCode>
                <c:ptCount val="4"/>
                <c:pt idx="0">
                  <c:v>35</c:v>
                </c:pt>
                <c:pt idx="1">
                  <c:v>38</c:v>
                </c:pt>
                <c:pt idx="2">
                  <c:v>44</c:v>
                </c:pt>
                <c:pt idx="3">
                  <c:v>41</c:v>
                </c:pt>
              </c:numCache>
            </c:numRef>
          </c:val>
        </c:ser>
        <c:ser>
          <c:idx val="2"/>
          <c:order val="2"/>
          <c:tx>
            <c:strRef>
              <c:f>T!$A$4</c:f>
              <c:strCache>
                <c:ptCount val="1"/>
                <c:pt idx="0">
                  <c:v>West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</c:spPr>
          <c:marker>
            <c:symbol val="circle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</c:spPr>
          </c:marker>
          <c:cat>
            <c:strRef>
              <c:f>T!$B$1:$E$1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T!$B$4:$E$4</c:f>
              <c:numCache>
                <c:formatCode>General</c:formatCode>
                <c:ptCount val="4"/>
                <c:pt idx="0">
                  <c:v>18</c:v>
                </c:pt>
                <c:pt idx="1">
                  <c:v>27</c:v>
                </c:pt>
                <c:pt idx="2">
                  <c:v>31</c:v>
                </c:pt>
                <c:pt idx="3">
                  <c:v>36</c:v>
                </c:pt>
              </c:numCache>
            </c:numRef>
          </c:val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  <a:endParaRPr lang="en-US"/>
          </a:p>
        </c:txPr>
        <c:crossAx val="2"/>
        <c:crosses val="autoZero"/>
      </c:catAx>
      <c:valAx>
        <c:axId val="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gap"/>
  </c:chart>
  <c:spPr>
    <a:solidFill>
      <a:srgbClr val="FFFFFF"/>
    </a:solidFill>
    <a:ln w="9525">
      <a:solidFill>
        <a:srgbClr val="D9D9D9"/>
      </a:solidFill>
    </a:ln>
  </c:spPr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 bar"/>
          <p:cNvSpPr/>
          <p:nvPr userDrawn="1"/>
        </p:nvSpPr>
        <p:spPr>
          <a:xfrm>
            <a:off x="0" y="0"/>
            <a:ext cx="9144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5000"/>
          </a:xfrm>
        </p:spPr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8229600" cy="5207000"/>
          </a:xfrm>
        </p:spPr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7924800" y="6477000"/>
            <a:ext cx="762000" cy="254000"/>
          </a:xfrm>
        </p:spPr>
        <p:txBody>
          <a:bodyPr/>
          <a:lstStyle/>
          <a:p>
            <a:r>
              <a:rPr lang="en-US"/>
              <a:t>‹#›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buNone/>
        <a:defRPr sz="36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571500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</a:defRPr>
      </a:lvl2pPr>
      <a:lvl3pPr marL="9144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3pPr>
      <a:lvl4pPr marL="1257300" indent="-228600" algn="l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</a:defRPr>
      </a:lvl4pPr>
      <a:lvl5pPr marL="1600200" indent="-228600" algn="l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org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formatting</a:t>
            </a:r>
            <a:endParaRPr lang="en-US"/>
          </a:p>
        </p:txBody>
      </p:sp>
      <p:sp>
        <p:nvSpPr>
          <p:cNvPr id="3" name="Lists 3"/>
          <p:cNvSpPr txBox="1"/>
          <p:nvPr/>
        </p:nvSpPr>
        <p:spPr>
          <a:xfrm>
            <a:off x="304800" y="965200"/>
            <a:ext cx="4191000" cy="241300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txBody>
          <a:bodyPr wrap="square"/>
          <a:lstStyle/>
          <a:p>
            <a:pPr marL="228600" indent="-228600">
              <a:buFont typeface="Arial"/>
              <a:buChar char="•"/>
            </a:pPr>
            <a:r>
              <a:rPr lang="en-US" sz="1600"/>
              <a:t>Bullet point</a:t>
            </a:r>
            <a:endParaRPr lang="en-US"/>
          </a:p>
          <a:p>
            <a:pPr lvl="1" marL="533400" indent="-228600">
              <a:buFont typeface="Arial"/>
              <a:buChar char="–"/>
            </a:pPr>
            <a:r>
              <a:rPr lang="en-US" sz="1600"/>
              <a:t>Second level</a:t>
            </a:r>
            <a:endParaRPr lang="en-US"/>
          </a:p>
          <a:p>
            <a:pPr lvl="1" marL="533400" indent="-228600">
              <a:buFont typeface="Wingdings" pitchFamily="2" charset="2"/>
              <a:buChar char="Ø"/>
            </a:pPr>
            <a:r>
              <a:rPr lang="en-US" sz="1600"/>
              <a:t>Wingdings arrow</a:t>
            </a:r>
            <a:endParaRPr lang="en-US"/>
          </a:p>
          <a:p>
            <a:pPr marL="304800" indent="-304800">
              <a:buFont typeface="+mj-lt"/>
              <a:buAutoNum type="arabicPeriod"/>
            </a:pPr>
            <a:r>
              <a:rPr lang="en-US" sz="1600"/>
              <a:t>Number one</a:t>
            </a:r>
            <a:endParaRPr lang="en-US"/>
          </a:p>
          <a:p>
            <a:pPr marL="304800" indent="-304800">
              <a:buFont typeface="+mj-lt"/>
              <a:buAutoNum type="arabicPeriod"/>
            </a:pPr>
            <a:r>
              <a:rPr lang="en-US" sz="1600"/>
              <a:t>Number two</a:t>
            </a:r>
            <a:endParaRPr lang="en-US"/>
          </a:p>
          <a:p>
            <a:pPr lvl="1" marL="609600" indent="-304800">
              <a:buFont typeface="+mj-lt"/>
              <a:buAutoNum type="alphaLcParenR"/>
            </a:pPr>
            <a:r>
              <a:rPr lang="en-US" sz="1600"/>
              <a:t>Letter a</a:t>
            </a:r>
            <a:endParaRPr lang="en-US"/>
          </a:p>
          <a:p>
            <a:pPr lvl="1" marL="609600" indent="-304800">
              <a:buFont typeface="+mj-lt"/>
              <a:buAutoNum type="alphaLcParenR"/>
            </a:pPr>
            <a:r>
              <a:rPr lang="en-US" sz="1600"/>
              <a:t>Letter b</a:t>
            </a:r>
            <a:endParaRPr lang="en-US"/>
          </a:p>
          <a:p>
            <a:pPr marL="304800" indent="-304800">
              <a:buFont typeface="+mj-lt"/>
              <a:buAutoNum type="romanUcPeriod"/>
            </a:pPr>
            <a:r>
              <a:rPr lang="en-US" sz="1600"/>
              <a:t>Number three (Roman)</a:t>
            </a:r>
            <a:endParaRPr lang="en-US"/>
          </a:p>
        </p:txBody>
      </p:sp>
      <p:sp>
        <p:nvSpPr>
          <p:cNvPr id="4" name="Characters 4"/>
          <p:cNvSpPr txBox="1"/>
          <p:nvPr/>
        </p:nvSpPr>
        <p:spPr>
          <a:xfrm>
            <a:off x="4699000" y="965200"/>
            <a:ext cx="4191000" cy="241300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txBody>
          <a:bodyPr wrap="square"/>
          <a:lstStyle/>
          <a:p>
            <a:r>
              <a:rPr lang="en-US" sz="1600" b="1"/>
              <a:t>Bold</a:t>
            </a:r>
            <a:r>
              <a:rPr lang="en-US" sz="1600"/>
              <a:t>, </a:t>
            </a:r>
            <a:r>
              <a:rPr lang="en-US" sz="1600" i="1"/>
              <a:t>italic</a:t>
            </a:r>
            <a:r>
              <a:rPr lang="en-US" sz="1600"/>
              <a:t>, </a:t>
            </a:r>
            <a:r>
              <a:rPr lang="en-US" sz="1600" u="sng"/>
              <a:t>underlined</a:t>
            </a:r>
            <a:r>
              <a:rPr lang="en-US" sz="1600"/>
              <a:t>, </a:t>
            </a:r>
            <a:r>
              <a:rPr lang="en-US" sz="1600" strike="sngStrike"/>
              <a:t>struck out</a:t>
            </a:r>
            <a:endParaRPr lang="en-US"/>
          </a:p>
          <a:p>
            <a:r>
              <a:rPr lang="en-US" sz="1600"/>
              <a:t>H</a:t>
            </a:r>
            <a:r>
              <a:rPr lang="en-US" sz="1600" baseline="-25000"/>
              <a:t>2</a:t>
            </a:r>
            <a:r>
              <a:rPr lang="en-US" sz="1600"/>
              <a:t>O and x</a:t>
            </a:r>
            <a:r>
              <a:rPr lang="en-US" sz="1600" baseline="30000"/>
              <a:t>2</a:t>
            </a:r>
            <a:r>
              <a:rPr lang="en-US" sz="1600"/>
              <a:t> · </a:t>
            </a:r>
            <a:r>
              <a:rPr lang="en-US" sz="1600">
                <a:highlight>
                  <a:srgbClr val="FFFF00"/>
                </a:highlight>
              </a:rPr>
              <a:t>highlighted</a:t>
            </a:r>
            <a:r>
              <a:rPr lang="en-US" sz="1600"/>
              <a:t> · </a:t>
            </a:r>
            <a:r>
              <a:rPr lang="en-US" sz="1600" cap="small"/>
              <a:t>Small Caps</a:t>
            </a:r>
            <a:endParaRPr lang="en-US"/>
          </a:p>
          <a:p>
            <a:r>
              <a:rPr lang="en-US" sz="1600">
                <a:solidFill>
                  <a:schemeClr val="accent2"/>
                </a:solidFill>
              </a:rPr>
              <a:t>Accent 2 color</a:t>
            </a:r>
            <a:r>
              <a:rPr lang="en-US" sz="1600"/>
              <a:t> and </a:t>
            </a:r>
            <a:r>
              <a:rPr lang="en-US" sz="1600">
                <a:latin typeface="Georgia"/>
              </a:rPr>
              <a:t>Georgia</a:t>
            </a:r>
            <a:r>
              <a:rPr lang="en-US" sz="1600"/>
              <a:t> and </a:t>
            </a:r>
            <a:r>
              <a:rPr lang="en-US" sz="1600">
                <a:latin typeface="Courier New"/>
              </a:rPr>
              <a:t>Courier New</a:t>
            </a:r>
            <a:endParaRPr lang="en-US"/>
          </a:p>
          <a:p>
            <a:r>
              <a:rPr lang="en-US" sz="1600"/>
              <a:t>Link to </a:t>
            </a:r>
            <a:r>
              <a:rPr lang="en-US" sz="1600">
                <a:hlinkClick r:id="rId2"/>
              </a:rPr>
              <a:t>example.org</a:t>
            </a:r>
            <a:r>
              <a:rPr lang="en-US" sz="1600"/>
              <a:t> · café, Ø 25 mm, 21 °C, 3 €</a:t>
            </a:r>
            <a:endParaRPr lang="en-US"/>
          </a:p>
          <a:p>
            <a:pPr algn="l"/>
            <a:r>
              <a:rPr lang="en-US" sz="1400"/>
              <a:t>Left</a:t>
            </a:r>
            <a:endParaRPr lang="en-US"/>
          </a:p>
          <a:p>
            <a:pPr algn="ctr"/>
            <a:r>
              <a:rPr lang="en-US" sz="1400"/>
              <a:t>Centered</a:t>
            </a:r>
            <a:endParaRPr lang="en-US"/>
          </a:p>
          <a:p>
            <a:pPr algn="r"/>
            <a:r>
              <a:rPr lang="en-US" sz="1400"/>
              <a:t>Right</a:t>
            </a:r>
            <a:endParaRPr lang="en-US"/>
          </a:p>
          <a:p>
            <a:pPr>
              <a:tabLst>
                <a:tab pos="1397000" algn="l"/>
                <a:tab pos="3810000" algn="r"/>
              </a:tabLst>
            </a:pPr>
            <a:r>
              <a:rPr lang="en-US" sz="1400"/>
              <a:t>Tab stops:	left	right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04800" y="3556000"/>
            <a:ext cx="1320800" cy="139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/>
            <a:r>
              <a:rPr lang="en-US" sz="1400"/>
              <a:t>anchor t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1727200" y="3556000"/>
            <a:ext cx="1320800" cy="139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/>
              <a:t>anchor ctr</a:t>
            </a:r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3149600" y="3556000"/>
            <a:ext cx="1320800" cy="139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/>
            <a:r>
              <a:rPr lang="en-US" sz="1400"/>
              <a:t>anchor b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4572000" y="3556000"/>
            <a:ext cx="1320800" cy="1397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" anchor="ctr"/>
          <a:lstStyle/>
          <a:p>
            <a:pPr algn="ctr"/>
            <a:r>
              <a:rPr lang="en-US" sz="1400"/>
              <a:t>Vertical (vert)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6019800" y="3556000"/>
            <a:ext cx="1320800" cy="1397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/>
            <a:r>
              <a:rPr lang="en-US" sz="1400"/>
              <a:t>Vertical 270</a:t>
            </a:r>
            <a:endParaRPr lang="en-US"/>
          </a:p>
        </p:txBody>
      </p:sp>
      <p:sp>
        <p:nvSpPr>
          <p:cNvPr id="10" name="Autofit 10"/>
          <p:cNvSpPr txBox="1"/>
          <p:nvPr/>
        </p:nvSpPr>
        <p:spPr>
          <a:xfrm>
            <a:off x="7467600" y="3556000"/>
            <a:ext cx="1422400" cy="139700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rmAutofit fontScale="62500" lnSpcReduction="20000"/>
          </a:bodyPr>
          <a:lstStyle/>
          <a:p>
            <a:r>
              <a:rPr lang="en-US" sz="2000"/>
              <a:t>Shrunk by autofit so that the text fits into the box it was given.</a:t>
            </a:r>
            <a:endParaRPr lang="en-US"/>
          </a:p>
        </p:txBody>
      </p:sp>
      <p:sp>
        <p:nvSpPr>
          <p:cNvPr id="11" name="Columns 11"/>
          <p:cNvSpPr txBox="1"/>
          <p:nvPr/>
        </p:nvSpPr>
        <p:spPr>
          <a:xfrm>
            <a:off x="304800" y="5130800"/>
            <a:ext cx="8585200" cy="139700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txBody>
          <a:bodyPr wrap="square" numCol="2" spcCol="228600"/>
          <a:lstStyle/>
          <a:p>
            <a:pPr>
              <a:lnSpc>
                <a:spcPct val="150000"/>
              </a:lnSpc>
            </a:pPr>
            <a:r>
              <a:rPr lang="en-US" sz="1400"/>
              <a:t>Two columns: this paragraph flows from the left into the right column, the way PowerPoint sets text in several columns. </a:t>
            </a:r>
            <a:r>
              <a:rPr lang="en-US" sz="1400" b="1"/>
              <a:t>Line spacing 150 %.</a:t>
            </a:r>
            <a:endParaRPr lang="en-US"/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sz="1400"/>
              <a:t>Second paragraph with 6 pt space before it and 80 % line spacing, so the lines sit closer than usual.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</a:t>
            </a:r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08000" y="1143000"/>
          <a:ext cx="7239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1905000"/>
                <a:gridCol w="1143000"/>
                <a:gridCol w="15240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sz="1400"/>
                        <a:t>Part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Material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Price</a:t>
                      </a:r>
                      <a:endParaRPr lang="en-US"/>
                    </a:p>
                  </a:txBody>
                  <a:tcPr/>
                </a:tc>
              </a:tr>
              <a:tr h="330200">
                <a:tc rowSpan="2">
                  <a:txBody>
                    <a:bodyPr/>
                    <a:lstStyle/>
                    <a:p>
                      <a:r>
                        <a:rPr lang="en-US" sz="1400"/>
                        <a:t>Gear z18, Ø 72 mm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C45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€12.40</a:t>
                      </a:r>
                      <a:endParaRPr lang="en-US"/>
                    </a:p>
                  </a:txBody>
                  <a:tcPr/>
                </a:tc>
              </a:tr>
              <a:tr h="330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42CrMo4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€18.90</a:t>
                      </a:r>
                      <a:endParaRPr lang="en-US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sz="1400"/>
                        <a:t>Flange plate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S235JR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€7.15</a:t>
                      </a:r>
                      <a:endParaRPr lang="en-US"/>
                    </a:p>
                  </a:txBody>
                  <a:tcPr/>
                </a:tc>
              </a:tr>
              <a:tr h="330200">
                <a:tc gridSpan="2">
                  <a:txBody>
                    <a:bodyPr/>
                    <a:lstStyle/>
                    <a:p>
                      <a:r>
                        <a:rPr lang="en-US" sz="1400"/>
                        <a:t>M8 bolts and nuts</a:t>
                      </a: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€3.60</a:t>
                      </a:r>
                      <a:endParaRPr lang="en-US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sz="1400" b="1"/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€49.20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08000" y="4191000"/>
          <a:ext cx="7239000" cy="2286000"/>
        </p:xfrm>
        <a:graphic>
          <a:graphicData uri="http://schemas.openxmlformats.org/drawingml/2006/table">
            <a:tbl>
              <a:tblPr/>
              <a:tblGrid>
                <a:gridCol w="1778000"/>
                <a:gridCol w="1778000"/>
                <a:gridCol w="1778000"/>
              </a:tblGrid>
              <a:tr h="279400">
                <a:tc>
                  <a:txBody>
                    <a:bodyPr/>
                    <a:lstStyle/>
                    <a:p>
                      <a:r>
                        <a:rPr lang="en-US" sz="1200"/>
                        <a:t>A1</a:t>
                      </a:r>
                      <a:endParaRPr lang="en-US"/>
                    </a:p>
                  </a:txBody>
                  <a:tcPr marL="50800" marR="50800">
                    <a:lnL w="12700">
                      <a:solidFill>
                        <a:srgbClr val="7F8994"/>
                      </a:solidFill>
                    </a:lnL>
                    <a:lnR w="12700">
                      <a:solidFill>
                        <a:srgbClr val="7F8994"/>
                      </a:solidFill>
                    </a:lnR>
                    <a:lnT w="12700">
                      <a:solidFill>
                        <a:srgbClr val="7F8994"/>
                      </a:solidFill>
                    </a:lnT>
                    <a:lnB w="28575">
                      <a:solidFill>
                        <a:schemeClr val="accent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B1</a:t>
                      </a:r>
                      <a:endParaRPr lang="en-US"/>
                    </a:p>
                  </a:txBody>
                  <a:tcPr marL="50800" marR="50800">
                    <a:lnL w="12700">
                      <a:solidFill>
                        <a:srgbClr val="7F8994"/>
                      </a:solidFill>
                    </a:lnL>
                    <a:lnR w="12700">
                      <a:solidFill>
                        <a:srgbClr val="7F8994"/>
                      </a:solidFill>
                    </a:lnR>
                    <a:lnT w="12700">
                      <a:solidFill>
                        <a:srgbClr val="7F8994"/>
                      </a:solidFill>
                    </a:lnT>
                    <a:lnB w="28575">
                      <a:solidFill>
                        <a:schemeClr val="accent2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C1</a:t>
                      </a:r>
                      <a:endParaRPr lang="en-US"/>
                    </a:p>
                  </a:txBody>
                  <a:tcPr marL="50800" marR="50800">
                    <a:lnL w="12700">
                      <a:solidFill>
                        <a:srgbClr val="7F8994"/>
                      </a:solidFill>
                    </a:lnL>
                    <a:lnR w="12700">
                      <a:solidFill>
                        <a:srgbClr val="7F8994"/>
                      </a:solidFill>
                    </a:lnR>
                    <a:lnT w="12700">
                      <a:solidFill>
                        <a:srgbClr val="7F8994"/>
                      </a:solidFill>
                    </a:lnT>
                    <a:lnB w="28575">
                      <a:solidFill>
                        <a:schemeClr val="accent2"/>
                      </a:solidFill>
                    </a:lnB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lang="en-US" sz="1200"/>
                        <a:t>A2</a:t>
                      </a:r>
                      <a:endParaRPr lang="en-US"/>
                    </a:p>
                  </a:txBody>
                  <a:tcPr marL="50800" marR="50800">
                    <a:lnL w="12700">
                      <a:solidFill>
                        <a:srgbClr val="7F8994"/>
                      </a:solidFill>
                    </a:lnL>
                    <a:lnR w="12700">
                      <a:solidFill>
                        <a:srgbClr val="7F8994"/>
                      </a:solidFill>
                    </a:lnR>
                    <a:lnT w="12700">
                      <a:solidFill>
                        <a:srgbClr val="7F8994"/>
                      </a:solidFill>
                    </a:lnT>
                    <a:lnB w="28575">
                      <a:solidFill>
                        <a:schemeClr val="accent2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B2</a:t>
                      </a:r>
                      <a:endParaRPr lang="en-US"/>
                    </a:p>
                  </a:txBody>
                  <a:tcPr marL="50800" marR="50800">
                    <a:lnL w="12700">
                      <a:solidFill>
                        <a:srgbClr val="7F8994"/>
                      </a:solidFill>
                    </a:lnL>
                    <a:lnR w="12700">
                      <a:solidFill>
                        <a:srgbClr val="7F8994"/>
                      </a:solidFill>
                    </a:lnR>
                    <a:lnT w="12700">
                      <a:solidFill>
                        <a:srgbClr val="7F8994"/>
                      </a:solidFill>
                    </a:lnT>
                    <a:lnB w="28575">
                      <a:solidFill>
                        <a:schemeClr val="accent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C2</a:t>
                      </a:r>
                      <a:endParaRPr lang="en-US"/>
                    </a:p>
                  </a:txBody>
                  <a:tcPr marL="50800" marR="50800">
                    <a:lnL w="12700">
                      <a:solidFill>
                        <a:srgbClr val="7F8994"/>
                      </a:solidFill>
                    </a:lnL>
                    <a:lnR w="12700">
                      <a:solidFill>
                        <a:srgbClr val="7F8994"/>
                      </a:solidFill>
                    </a:lnR>
                    <a:lnT w="12700">
                      <a:solidFill>
                        <a:srgbClr val="7F8994"/>
                      </a:solidFill>
                    </a:lnT>
                    <a:lnB w="28575">
                      <a:solidFill>
                        <a:schemeClr val="accent2"/>
                      </a:solidFill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Charts</a:t>
            </a:r>
            <a:endParaRPr lang="en-US"/>
          </a:p>
        </p:txBody>
      </p:sp>
      <p:graphicFrame>
        <p:nvGraphicFramePr>
          <p:cNvPr id="3" name="Chart"/>
          <p:cNvGraphicFramePr/>
          <p:nvPr/>
        </p:nvGraphicFramePr>
        <p:xfrm>
          <a:off x="304800" y="1016000"/>
          <a:ext cx="5080000" cy="3175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5588000" y="1016000"/>
          <a:ext cx="3302000" cy="3175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"/>
          <p:cNvGraphicFramePr/>
          <p:nvPr/>
        </p:nvGraphicFramePr>
        <p:xfrm>
          <a:off x="304800" y="4318000"/>
          <a:ext cx="85852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1B1E23"/>
      </a:dk1>
      <a:lt1>
        <a:srgbClr val="FFFFFF"/>
      </a:lt1>
      <a:dk2>
        <a:srgbClr val="2D3A4A"/>
      </a:dk2>
      <a:lt2>
        <a:srgbClr val="EEF1F4"/>
      </a:lt2>
      <a:accent1>
        <a:srgbClr val="2F6DB5"/>
      </a:accent1>
      <a:accent2>
        <a:srgbClr val="E2783A"/>
      </a:accent2>
      <a:accent3>
        <a:srgbClr val="3E9C5C"/>
      </a:accent3>
      <a:accent4>
        <a:srgbClr val="D9A82B"/>
      </a:accent4>
      <a:accent5>
        <a:srgbClr val="8A5BB8"/>
      </a:accent5>
      <a:accent6>
        <a:srgbClr val="C94F64"/>
      </a:accent6>
      <a:hlink>
        <a:srgbClr val="1F64C8"/>
      </a:hlink>
      <a:folHlink>
        <a:srgbClr val="7B5AA6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90000"/>
              </a:schemeClr>
            </a:gs>
          </a:gsLst>
          <a:lin ang="5400000" scaled="0"/>
        </a:gra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85000"/>
              </a:schemeClr>
            </a:gs>
          </a:gsLst>
          <a:lin ang="5400000" scaled="0"/>
        </a:gradFill>
      </a:bgFillStyleLst>
    </a:fmtScheme>
  </a:themeElements>
</a:theme>
</file>